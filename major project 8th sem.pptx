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</p:sldMasterIdLst>
  <p:notesMasterIdLst>
    <p:notesMasterId r:id="rId38"/>
  </p:notesMasterIdLst>
  <p:sldIdLst>
    <p:sldId id="257" r:id="rId8"/>
    <p:sldId id="258" r:id="rId9"/>
    <p:sldId id="261" r:id="rId10"/>
    <p:sldId id="262" r:id="rId11"/>
    <p:sldId id="263" r:id="rId12"/>
    <p:sldId id="264" r:id="rId13"/>
    <p:sldId id="265" r:id="rId14"/>
    <p:sldId id="267" r:id="rId15"/>
    <p:sldId id="269" r:id="rId16"/>
    <p:sldId id="270" r:id="rId17"/>
    <p:sldId id="266" r:id="rId18"/>
    <p:sldId id="271" r:id="rId19"/>
    <p:sldId id="272" r:id="rId20"/>
    <p:sldId id="274" r:id="rId21"/>
    <p:sldId id="275" r:id="rId22"/>
    <p:sldId id="277" r:id="rId23"/>
    <p:sldId id="273" r:id="rId24"/>
    <p:sldId id="278" r:id="rId25"/>
    <p:sldId id="279" r:id="rId26"/>
    <p:sldId id="280" r:id="rId27"/>
    <p:sldId id="283" r:id="rId28"/>
    <p:sldId id="281" r:id="rId29"/>
    <p:sldId id="282" r:id="rId30"/>
    <p:sldId id="284" r:id="rId31"/>
    <p:sldId id="285" r:id="rId32"/>
    <p:sldId id="286" r:id="rId33"/>
    <p:sldId id="290" r:id="rId34"/>
    <p:sldId id="287" r:id="rId35"/>
    <p:sldId id="288" r:id="rId36"/>
    <p:sldId id="28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presProps" Target="pres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D7724-9916-4130-AE8E-68ABA9FB01B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392F-69DF-4C64-9BAB-3F2456A20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2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2D2CF6-8C19-4813-BE42-196858CBB6D4}" type="slidenum">
              <a:rPr lang="en-I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857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1A49-9D99-4564-9680-58164F854C0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2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130-3E4B-423F-9C4D-B16C82CF10C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97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B6B9-B030-43F7-9312-4CA7501A66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92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26BF-1C75-444F-B9DD-46B682635D0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463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F3436-3067-4A18-8100-2A0745A26EC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77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DD5A3-F371-4D9D-BF26-773CD385010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9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6550-8FC7-4C8E-92D1-2A7A0CE916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07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5631-15B8-4380-BFCD-17BA5C23E71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98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7B86-BE75-4DD0-AA2B-1C339F5E178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258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85F9B-931F-4D0A-BDF8-6AD2B78F96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32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DBD-C7FA-4157-96BC-52674D9414C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912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C26449-9C34-6143-1F5A-0394C4290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2A106E6-7F89-072E-57DE-5ADBF9244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597F65B-9FB9-8DDE-78C3-4C6401D9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00E969-B655-C366-B70D-0D8208AA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A01E088-419C-71A3-35EF-4C4E1888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177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57898F-2833-1696-E229-908D6964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2B60AD-FD40-8BC7-E2F7-D609F2C3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39F267-3DA9-9971-A0EE-B04FCEE9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C56AC4-3DF4-FF0F-3623-3C3F0C07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A422C4-EE6D-D1BA-2EF7-EC1F0A57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240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B03DA2-2691-7005-8CF1-6EE19D9C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CB87172-CBC9-7566-F870-9CD79AC7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467055-045B-93CA-F4C7-585E8573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6930586-0B34-8885-28AD-05A4AC8D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A8E15B-D02A-00DC-A9D1-C484A19D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19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0BE807-EA3E-17F5-E6A0-876D6D28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6F1413-7087-C426-00D0-1D2EEC29C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8CA6FEA-D736-575B-8849-5A88E8E1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DA01F00-18F5-4089-CEDA-6293E86E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34D13A5-2902-2E26-BBDC-0128347E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EDC50FE-4618-C8FA-0DA1-24471542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60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B76FED-1D63-BD2E-3A2F-6E265DAF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C76865-F9D0-C5FD-98AD-48FBCB00F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B24EC31-EC5B-28E1-B65A-4F0964D5B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A74F5C0-1F63-A653-E063-F8E5FA766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B6B5FAD-A626-C750-53DE-A08B3A578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C2558C7-03E2-235E-0313-63E498B5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BA214E3-7636-C704-04BC-6778A9EF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7A72B22-689A-6222-2D08-2CF42730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815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543D46-16B0-6C6D-DE3F-6C6B3212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CE13C32-74DA-C002-D81F-DDB3191B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2230D59-2392-508D-9368-F945FB8A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75A5692-9CF3-5CE5-0B96-3802BBD8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13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96E4F5D-816F-3820-E4EA-D35BEE10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A613CB0-D332-41DF-66A9-F52187C6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E2FFBB9-4925-48B2-193A-E38AAC39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002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A5F86B-DD72-AD9E-2FEA-0A5F3B6A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E66AD8-B835-2E5A-C153-70F609BF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10998DE-42DF-6E42-91A7-8CEAFEF50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1059AC8-8005-A39B-0A5E-AF24AE41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DACDF8D-DDF7-B082-2485-1F2CE2F9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711DDE3-C840-54A5-C96E-813009BA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287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89E352-085A-1486-B7EE-65761296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C06256F-6178-0F24-AFA9-DB2A179E0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22B8E72-ACE3-7EC6-60B2-313451761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C4D0414-0F1A-9E3A-6DB4-6F13DBD6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5BB51F-F194-EF03-1F10-2DEA7946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469A40-AC55-D089-5BC7-D02D0B16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993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D6FFEF-3DA4-4B39-EEF0-10FD191A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3ADB1B8-F1BD-4775-3B22-66193A162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92FBCB-F9D4-214E-8BCE-161EAA26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AFD983-1CB7-1086-05D2-35AC8E66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5B72D9-98F4-1ABD-DACF-9394E96B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532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1E4A4C2-F37E-8327-1130-6D4281BC2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441E852-523E-BAB1-E061-958A7F0E6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36E108-2284-7B60-E973-BE23B0B1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EF542B-73DE-5DCE-BE7F-CDC044DA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E8B9228-4A70-786E-772D-B96705F6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898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C26449-9C34-6143-1F5A-0394C4290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2A106E6-7F89-072E-57DE-5ADBF9244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597F65B-9FB9-8DDE-78C3-4C6401D9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00E969-B655-C366-B70D-0D8208AA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A01E088-419C-71A3-35EF-4C4E1888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393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57898F-2833-1696-E229-908D6964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2B60AD-FD40-8BC7-E2F7-D609F2C3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39F267-3DA9-9971-A0EE-B04FCEE9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C56AC4-3DF4-FF0F-3623-3C3F0C07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A422C4-EE6D-D1BA-2EF7-EC1F0A57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7753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B03DA2-2691-7005-8CF1-6EE19D9C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CB87172-CBC9-7566-F870-9CD79AC7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467055-045B-93CA-F4C7-585E8573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6930586-0B34-8885-28AD-05A4AC8D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A8E15B-D02A-00DC-A9D1-C484A19D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2659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0BE807-EA3E-17F5-E6A0-876D6D28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6F1413-7087-C426-00D0-1D2EEC29C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8CA6FEA-D736-575B-8849-5A88E8E1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DA01F00-18F5-4089-CEDA-6293E86E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34D13A5-2902-2E26-BBDC-0128347E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EDC50FE-4618-C8FA-0DA1-24471542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9845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B76FED-1D63-BD2E-3A2F-6E265DAF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C76865-F9D0-C5FD-98AD-48FBCB00F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B24EC31-EC5B-28E1-B65A-4F0964D5B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A74F5C0-1F63-A653-E063-F8E5FA766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B6B5FAD-A626-C750-53DE-A08B3A578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C2558C7-03E2-235E-0313-63E498B5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BA214E3-7636-C704-04BC-6778A9EF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7A72B22-689A-6222-2D08-2CF42730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2228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543D46-16B0-6C6D-DE3F-6C6B3212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CE13C32-74DA-C002-D81F-DDB3191B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2230D59-2392-508D-9368-F945FB8A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75A5692-9CF3-5CE5-0B96-3802BBD8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0439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96E4F5D-816F-3820-E4EA-D35BEE10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A613CB0-D332-41DF-66A9-F52187C6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E2FFBB9-4925-48B2-193A-E38AAC39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315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A5F86B-DD72-AD9E-2FEA-0A5F3B6A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E66AD8-B835-2E5A-C153-70F609BF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10998DE-42DF-6E42-91A7-8CEAFEF50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1059AC8-8005-A39B-0A5E-AF24AE41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DACDF8D-DDF7-B082-2485-1F2CE2F9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711DDE3-C840-54A5-C96E-813009BA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9914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89E352-085A-1486-B7EE-65761296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C06256F-6178-0F24-AFA9-DB2A179E0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22B8E72-ACE3-7EC6-60B2-313451761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C4D0414-0F1A-9E3A-6DB4-6F13DBD6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5BB51F-F194-EF03-1F10-2DEA7946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469A40-AC55-D089-5BC7-D02D0B16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0410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D6FFEF-3DA4-4B39-EEF0-10FD191A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3ADB1B8-F1BD-4775-3B22-66193A162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92FBCB-F9D4-214E-8BCE-161EAA26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AFD983-1CB7-1086-05D2-35AC8E66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5B72D9-98F4-1ABD-DACF-9394E96B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3805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1E4A4C2-F37E-8327-1130-6D4281BC2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441E852-523E-BAB1-E061-958A7F0E6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36E108-2284-7B60-E973-BE23B0B1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EF542B-73DE-5DCE-BE7F-CDC044DA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E8B9228-4A70-786E-772D-B96705F6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2881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1A49-9D99-4564-9680-58164F854C0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9505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130-3E4B-423F-9C4D-B16C82CF10C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4535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B6B9-B030-43F7-9312-4CA7501A66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043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26BF-1C75-444F-B9DD-46B682635D0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9742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F3436-3067-4A18-8100-2A0745A26EC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451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DD5A3-F371-4D9D-BF26-773CD385010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731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A6550-8FC7-4C8E-92D1-2A7A0CE916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240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5631-15B8-4380-BFCD-17BA5C23E71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6905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7B86-BE75-4DD0-AA2B-1C339F5E178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3798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85F9B-931F-4D0A-BDF8-6AD2B78F96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548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DBD-C7FA-4157-96BC-52674D9414C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415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C26449-9C34-6143-1F5A-0394C4290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2A106E6-7F89-072E-57DE-5ADBF9244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597F65B-9FB9-8DDE-78C3-4C6401D9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00E969-B655-C366-B70D-0D8208AA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A01E088-419C-71A3-35EF-4C4E1888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9349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57898F-2833-1696-E229-908D6964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2B60AD-FD40-8BC7-E2F7-D609F2C3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39F267-3DA9-9971-A0EE-B04FCEE9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C56AC4-3DF4-FF0F-3623-3C3F0C07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A422C4-EE6D-D1BA-2EF7-EC1F0A57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3211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B03DA2-2691-7005-8CF1-6EE19D9C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CB87172-CBC9-7566-F870-9CD79AC7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467055-045B-93CA-F4C7-585E8573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6930586-0B34-8885-28AD-05A4AC8D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A8E15B-D02A-00DC-A9D1-C484A19D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398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0BE807-EA3E-17F5-E6A0-876D6D28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6F1413-7087-C426-00D0-1D2EEC29C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8CA6FEA-D736-575B-8849-5A88E8E1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DA01F00-18F5-4089-CEDA-6293E86E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34D13A5-2902-2E26-BBDC-0128347E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EDC50FE-4618-C8FA-0DA1-24471542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3181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B76FED-1D63-BD2E-3A2F-6E265DAF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C76865-F9D0-C5FD-98AD-48FBCB00F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B24EC31-EC5B-28E1-B65A-4F0964D5B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A74F5C0-1F63-A653-E063-F8E5FA766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B6B5FAD-A626-C750-53DE-A08B3A578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C2558C7-03E2-235E-0313-63E498B5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BA214E3-7636-C704-04BC-6778A9EF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7A72B22-689A-6222-2D08-2CF42730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025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543D46-16B0-6C6D-DE3F-6C6B3212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CE13C32-74DA-C002-D81F-DDB3191B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2230D59-2392-508D-9368-F945FB8A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75A5692-9CF3-5CE5-0B96-3802BBD8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7947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96E4F5D-816F-3820-E4EA-D35BEE10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A613CB0-D332-41DF-66A9-F52187C6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E2FFBB9-4925-48B2-193A-E38AAC39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3220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A5F86B-DD72-AD9E-2FEA-0A5F3B6A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E66AD8-B835-2E5A-C153-70F609BF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10998DE-42DF-6E42-91A7-8CEAFEF50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1059AC8-8005-A39B-0A5E-AF24AE41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DACDF8D-DDF7-B082-2485-1F2CE2F9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711DDE3-C840-54A5-C96E-813009BA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3652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89E352-085A-1486-B7EE-65761296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C06256F-6178-0F24-AFA9-DB2A179E0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22B8E72-ACE3-7EC6-60B2-313451761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C4D0414-0F1A-9E3A-6DB4-6F13DBD6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5BB51F-F194-EF03-1F10-2DEA7946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469A40-AC55-D089-5BC7-D02D0B16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7194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D6FFEF-3DA4-4B39-EEF0-10FD191A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3ADB1B8-F1BD-4775-3B22-66193A162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92FBCB-F9D4-214E-8BCE-161EAA26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AFD983-1CB7-1086-05D2-35AC8E66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5B72D9-98F4-1ABD-DACF-9394E96B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1327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1E4A4C2-F37E-8327-1130-6D4281BC2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441E852-523E-BAB1-E061-958A7F0E6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36E108-2284-7B60-E973-BE23B0B1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EF542B-73DE-5DCE-BE7F-CDC044DA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E8B9228-4A70-786E-772D-B96705F6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1328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C26449-9C34-6143-1F5A-0394C4290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2A106E6-7F89-072E-57DE-5ADBF9244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597F65B-9FB9-8DDE-78C3-4C6401D9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00E969-B655-C366-B70D-0D8208AA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A01E088-419C-71A3-35EF-4C4E1888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3936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57898F-2833-1696-E229-908D6964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2B60AD-FD40-8BC7-E2F7-D609F2C3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39F267-3DA9-9971-A0EE-B04FCEE9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C56AC4-3DF4-FF0F-3623-3C3F0C07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A422C4-EE6D-D1BA-2EF7-EC1F0A57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39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B03DA2-2691-7005-8CF1-6EE19D9C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CB87172-CBC9-7566-F870-9CD79AC7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467055-045B-93CA-F4C7-585E8573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6930586-0B34-8885-28AD-05A4AC8D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A8E15B-D02A-00DC-A9D1-C484A19D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4158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0BE807-EA3E-17F5-E6A0-876D6D28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6F1413-7087-C426-00D0-1D2EEC29C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8CA6FEA-D736-575B-8849-5A88E8E1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DA01F00-18F5-4089-CEDA-6293E86E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34D13A5-2902-2E26-BBDC-0128347E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EDC50FE-4618-C8FA-0DA1-24471542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327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B76FED-1D63-BD2E-3A2F-6E265DAF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C76865-F9D0-C5FD-98AD-48FBCB00F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B24EC31-EC5B-28E1-B65A-4F0964D5B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A74F5C0-1F63-A653-E063-F8E5FA766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B6B5FAD-A626-C750-53DE-A08B3A578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C2558C7-03E2-235E-0313-63E498B5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BA214E3-7636-C704-04BC-6778A9EF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7A72B22-689A-6222-2D08-2CF42730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7858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543D46-16B0-6C6D-DE3F-6C6B3212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CE13C32-74DA-C002-D81F-DDB3191B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2230D59-2392-508D-9368-F945FB8A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75A5692-9CF3-5CE5-0B96-3802BBD8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58040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96E4F5D-816F-3820-E4EA-D35BEE10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A613CB0-D332-41DF-66A9-F52187C6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E2FFBB9-4925-48B2-193A-E38AAC39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0625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A5F86B-DD72-AD9E-2FEA-0A5F3B6A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E66AD8-B835-2E5A-C153-70F609BF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10998DE-42DF-6E42-91A7-8CEAFEF50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1059AC8-8005-A39B-0A5E-AF24AE41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DACDF8D-DDF7-B082-2485-1F2CE2F9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711DDE3-C840-54A5-C96E-813009BA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066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89E352-085A-1486-B7EE-65761296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C06256F-6178-0F24-AFA9-DB2A179E0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22B8E72-ACE3-7EC6-60B2-313451761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C4D0414-0F1A-9E3A-6DB4-6F13DBD6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5BB51F-F194-EF03-1F10-2DEA7946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469A40-AC55-D089-5BC7-D02D0B16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90309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D6FFEF-3DA4-4B39-EEF0-10FD191A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3ADB1B8-F1BD-4775-3B22-66193A162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92FBCB-F9D4-214E-8BCE-161EAA26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AFD983-1CB7-1086-05D2-35AC8E66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5B72D9-98F4-1ABD-DACF-9394E96B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85638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1E4A4C2-F37E-8327-1130-6D4281BC2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441E852-523E-BAB1-E061-958A7F0E6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36E108-2284-7B60-E973-BE23B0B1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EF542B-73DE-5DCE-BE7F-CDC044DA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E8B9228-4A70-786E-772D-B96705F6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3092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C26449-9C34-6143-1F5A-0394C4290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2A106E6-7F89-072E-57DE-5ADBF9244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597F65B-9FB9-8DDE-78C3-4C6401D9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00E969-B655-C366-B70D-0D8208AA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A01E088-419C-71A3-35EF-4C4E1888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266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57898F-2833-1696-E229-908D6964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2B60AD-FD40-8BC7-E2F7-D609F2C3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39F267-3DA9-9971-A0EE-B04FCEE9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C56AC4-3DF4-FF0F-3623-3C3F0C07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A422C4-EE6D-D1BA-2EF7-EC1F0A57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2972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B03DA2-2691-7005-8CF1-6EE19D9C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CB87172-CBC9-7566-F870-9CD79AC7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467055-045B-93CA-F4C7-585E8573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6930586-0B34-8885-28AD-05A4AC8D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A8E15B-D02A-00DC-A9D1-C484A19D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96311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0BE807-EA3E-17F5-E6A0-876D6D28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6F1413-7087-C426-00D0-1D2EEC29C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8CA6FEA-D736-575B-8849-5A88E8E1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DA01F00-18F5-4089-CEDA-6293E86E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34D13A5-2902-2E26-BBDC-0128347E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EDC50FE-4618-C8FA-0DA1-24471542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432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B76FED-1D63-BD2E-3A2F-6E265DAF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C76865-F9D0-C5FD-98AD-48FBCB00F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B24EC31-EC5B-28E1-B65A-4F0964D5B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A74F5C0-1F63-A653-E063-F8E5FA766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B6B5FAD-A626-C750-53DE-A08B3A578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C2558C7-03E2-235E-0313-63E498B5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BA214E3-7636-C704-04BC-6778A9EF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7A72B22-689A-6222-2D08-2CF42730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53171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543D46-16B0-6C6D-DE3F-6C6B3212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CE13C32-74DA-C002-D81F-DDB3191B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2230D59-2392-508D-9368-F945FB8A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75A5692-9CF3-5CE5-0B96-3802BBD8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80305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96E4F5D-816F-3820-E4EA-D35BEE10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A613CB0-D332-41DF-66A9-F52187C6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E2FFBB9-4925-48B2-193A-E38AAC39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7619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A5F86B-DD72-AD9E-2FEA-0A5F3B6A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E66AD8-B835-2E5A-C153-70F609BF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10998DE-42DF-6E42-91A7-8CEAFEF50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1059AC8-8005-A39B-0A5E-AF24AE41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DACDF8D-DDF7-B082-2485-1F2CE2F9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711DDE3-C840-54A5-C96E-813009BA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2235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89E352-085A-1486-B7EE-65761296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C06256F-6178-0F24-AFA9-DB2A179E0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22B8E72-ACE3-7EC6-60B2-313451761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C4D0414-0F1A-9E3A-6DB4-6F13DBD6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5BB51F-F194-EF03-1F10-2DEA7946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469A40-AC55-D089-5BC7-D02D0B16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5404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D6FFEF-3DA4-4B39-EEF0-10FD191A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3ADB1B8-F1BD-4775-3B22-66193A162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92FBCB-F9D4-214E-8BCE-161EAA26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AFD983-1CB7-1086-05D2-35AC8E66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5B72D9-98F4-1ABD-DACF-9394E96B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53046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1E4A4C2-F37E-8327-1130-6D4281BC2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441E852-523E-BAB1-E061-958A7F0E6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36E108-2284-7B60-E973-BE23B0B1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EF542B-73DE-5DCE-BE7F-CDC044DA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E8B9228-4A70-786E-772D-B96705F6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33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B615A-839D-4FCA-9154-198C7D4ABF2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51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51140F3-F3A0-D405-BB4B-4E493B40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E7644E-A848-BF9E-72B0-C9C7A55FE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A24C04-BB06-FFF5-73C0-5D86CACA7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9C169F-D085-CB18-5061-4BE838795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CCE76C1-C7CF-03A3-3FD3-8D25250FC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51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51140F3-F3A0-D405-BB4B-4E493B40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E7644E-A848-BF9E-72B0-C9C7A55FE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A24C04-BB06-FFF5-73C0-5D86CACA7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9C169F-D085-CB18-5061-4BE838795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CCE76C1-C7CF-03A3-3FD3-8D25250FC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29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B615A-839D-4FCA-9154-198C7D4ABF2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6/9/2026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72B27-404B-469D-BE2C-F5E46E2922E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77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51140F3-F3A0-D405-BB4B-4E493B40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E7644E-A848-BF9E-72B0-C9C7A55FE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A24C04-BB06-FFF5-73C0-5D86CACA7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9C169F-D085-CB18-5061-4BE838795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CCE76C1-C7CF-03A3-3FD3-8D25250FC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6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51140F3-F3A0-D405-BB4B-4E493B40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E7644E-A848-BF9E-72B0-C9C7A55FE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A24C04-BB06-FFF5-73C0-5D86CACA7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9C169F-D085-CB18-5061-4BE838795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CCE76C1-C7CF-03A3-3FD3-8D25250FC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35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51140F3-F3A0-D405-BB4B-4E493B40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E7644E-A848-BF9E-72B0-C9C7A55FE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A24C04-BB06-FFF5-73C0-5D86CACA7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70315-F876-4F84-A70A-A4BAAB32554B}" type="datetimeFigureOut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09-06-2026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9C169F-D085-CB18-5061-4BE838795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CCE76C1-C7CF-03A3-3FD3-8D25250FC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EFA84-132D-482E-92E7-3988C75A3D52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05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0120" y="3789041"/>
            <a:ext cx="8064313" cy="1512169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 KUMAR (202200158)</a:t>
            </a:r>
            <a:b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b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  <a:b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JITENDRA SINGH TAMANG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(SG)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SIKKIM MANIPAL INSTITUTE OF TECHNOLOGY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1400" dirty="0">
                <a:latin typeface="Times New Roman" pitchFamily="18" charset="0"/>
                <a:cs typeface="Times New Roman" pitchFamily="18" charset="0"/>
              </a:rPr>
            </a:b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IN" sz="1400" dirty="0">
                <a:latin typeface="Times New Roman" pitchFamily="18" charset="0"/>
                <a:cs typeface="Times New Roman" pitchFamily="18" charset="0"/>
              </a:rPr>
            </a:b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11524" y="318139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B.Tech. Major Project Phase-II </a:t>
            </a:r>
          </a:p>
          <a:p>
            <a:pPr algn="ctr">
              <a:defRPr/>
            </a:pPr>
            <a:r>
              <a:rPr lang="en-US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  <a:r>
              <a:rPr lang="en-IN" sz="3200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3200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200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AI-Based Smart Energy Monitoring System </a:t>
            </a:r>
          </a:p>
        </p:txBody>
      </p:sp>
      <p:pic>
        <p:nvPicPr>
          <p:cNvPr id="8" name="Picture 8" descr="SM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42" y="5918517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1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808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70654"/>
            <a:ext cx="8856984" cy="132556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b="1" u="sng" dirty="0">
                <a:latin typeface="Times New Roman" pitchFamily="18" charset="0"/>
                <a:cs typeface="Times New Roman" pitchFamily="18" charset="0"/>
              </a:rPr>
              <a:t>ORGANIZATION OF PRESENTATION</a:t>
            </a:r>
            <a:r>
              <a:rPr lang="en-IN" sz="3600" b="1" u="sng" dirty="0"/>
              <a:t/>
            </a:r>
            <a:br>
              <a:rPr lang="en-IN" sz="3600" b="1" u="sng" dirty="0"/>
            </a:br>
            <a:endParaRPr lang="en-IN" sz="3600" b="1" u="sng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03304" y="6275901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68" y="5886920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459217"/>
              </p:ext>
            </p:extLst>
          </p:nvPr>
        </p:nvGraphicFramePr>
        <p:xfrm>
          <a:off x="2911527" y="1165430"/>
          <a:ext cx="7233959" cy="47214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0256"/>
                <a:gridCol w="6053703"/>
              </a:tblGrid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8-10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SOLUTION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 DIAGRAM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15-16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6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70654"/>
            <a:ext cx="8856984" cy="132556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b="1" u="sng" dirty="0">
                <a:latin typeface="Times New Roman" pitchFamily="18" charset="0"/>
                <a:cs typeface="Times New Roman" pitchFamily="18" charset="0"/>
              </a:rPr>
              <a:t>ORGANIZATION OF PRESENTATION</a:t>
            </a:r>
            <a:r>
              <a:rPr lang="en-IN" sz="3600" b="1" u="sng" dirty="0"/>
              <a:t/>
            </a:r>
            <a:br>
              <a:rPr lang="en-IN" sz="3600" b="1" u="sng" dirty="0"/>
            </a:br>
            <a:endParaRPr lang="en-IN" sz="3600" b="1" u="sng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03304" y="6275901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3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68" y="5886920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098771"/>
              </p:ext>
            </p:extLst>
          </p:nvPr>
        </p:nvGraphicFramePr>
        <p:xfrm>
          <a:off x="2911527" y="1165430"/>
          <a:ext cx="7233959" cy="47214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0256"/>
                <a:gridCol w="6053703"/>
              </a:tblGrid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No.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17-18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BILSTM-BASED NILM 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&amp; PERFORMANCE EVALUATION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21-23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u="non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APPLIANCE ANALYSIS RESULTS</a:t>
                      </a:r>
                      <a:endParaRPr lang="en-IN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ANOMALY DETECTION RESULTS</a:t>
                      </a:r>
                      <a:endParaRPr lang="en-IN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u="non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ELECTRICITY BILL ESTIMATION RESULTS</a:t>
                      </a:r>
                      <a:endParaRPr lang="en-IN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GANTT CHART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922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3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9" y="404665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u="sng" dirty="0">
                <a:latin typeface="Times New Roman" pitchFamily="18" charset="0"/>
                <a:cs typeface="Times New Roman" pitchFamily="18" charset="0"/>
              </a:rPr>
              <a:t>INTRODUCTION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56" y="1287065"/>
            <a:ext cx="9744622" cy="4572012"/>
          </a:xfrm>
        </p:spPr>
        <p:txBody>
          <a:bodyPr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 electricity consumption has increased significantly due to the widespread use of household electrical appliances.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electricity meters provide only total household energy consumption and do not offer appliance-level energy usage information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Non-Intrusive Load Monitoring (NILM) enables appliance-level energy estimation from aggregate household power measurements without requiring dedicated sensors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 can effectively learn consumption patterns from electricity data and improve energy disaggregation performance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AI-Based Smart Energy Monitoring System using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-based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NILM model, anomaly detection, electricity bill estimation, and an interactive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4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9" y="404665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56" y="1287064"/>
            <a:ext cx="9744622" cy="4936343"/>
          </a:xfrm>
        </p:spPr>
        <p:txBody>
          <a:bodyPr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electricity consumption and increasing energy costs have highlighted the need for efficient household energy management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often lack awareness of how individual appliances contribute to overall electricity usage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high-energy-consuming appliances can help reduce unnecessary energy consumption and electricity expenses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artificial intelligence and deep learning enable intelligent analysis of household electricity consumption 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appliance-level energy monitoring system can improve energy awareness and support informed decision-making for efficient electricity usage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5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2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9" y="404665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56" y="1287064"/>
            <a:ext cx="9744622" cy="4936343"/>
          </a:xfrm>
        </p:spPr>
        <p:txBody>
          <a:bodyPr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electricity meters provide only aggregate household energy consumption and do not offer appliance-level visibility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easily identify high-energy-consuming appliances or inefficient energy usage patterns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appliance behavior and unusual energy consumption often remain undetected.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dedicated sensors for individual appliances increases hardware cost, installation complexity, and maintenance requirements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and cost-effective system capable of estimating appliance-level energy consumption from aggregate household power measurements.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6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6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9" y="404665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56" y="1287064"/>
            <a:ext cx="9744622" cy="4936343"/>
          </a:xfrm>
        </p:spPr>
        <p:txBody>
          <a:bodyPr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NILM model for estimating appliance-level energy consumption from aggregate household electricity 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appliance-wise energy consumption patterns using the UK-DALE dataset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unusual energy consumption behavior through anomaly detection techniques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estimate electricity expenditure based on predicted appliance-level energy usage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 visualization, monitoring, and analysis of household energy consumption.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7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5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F43A024-65A6-61A2-41D3-ED322C9D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F37F8C-71A1-004A-55A4-9A7DF5AD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240" y="297038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u="sng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D821480-C9A2-4543-79FC-8F9BCA32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03912" y="6270615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</a:rPr>
              <a:pPr algn="ctr">
                <a:defRPr/>
              </a:pPr>
              <a:t>8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900F9B03-63CB-2D89-DF7F-468771B62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353689"/>
              </p:ext>
            </p:extLst>
          </p:nvPr>
        </p:nvGraphicFramePr>
        <p:xfrm>
          <a:off x="314632" y="877662"/>
          <a:ext cx="11738030" cy="4678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871">
                  <a:extLst>
                    <a:ext uri="{9D8B030D-6E8A-4147-A177-3AD203B41FA5}">
                      <a16:colId xmlns="" xmlns:a16="http://schemas.microsoft.com/office/drawing/2014/main" val="1819742863"/>
                    </a:ext>
                  </a:extLst>
                </a:gridCol>
                <a:gridCol w="1672665">
                  <a:extLst>
                    <a:ext uri="{9D8B030D-6E8A-4147-A177-3AD203B41FA5}">
                      <a16:colId xmlns="" xmlns:a16="http://schemas.microsoft.com/office/drawing/2014/main" val="805257030"/>
                    </a:ext>
                  </a:extLst>
                </a:gridCol>
                <a:gridCol w="2071378">
                  <a:extLst>
                    <a:ext uri="{9D8B030D-6E8A-4147-A177-3AD203B41FA5}">
                      <a16:colId xmlns="" xmlns:a16="http://schemas.microsoft.com/office/drawing/2014/main" val="4205050898"/>
                    </a:ext>
                  </a:extLst>
                </a:gridCol>
                <a:gridCol w="1837985">
                  <a:extLst>
                    <a:ext uri="{9D8B030D-6E8A-4147-A177-3AD203B41FA5}">
                      <a16:colId xmlns="" xmlns:a16="http://schemas.microsoft.com/office/drawing/2014/main" val="2607814144"/>
                    </a:ext>
                  </a:extLst>
                </a:gridCol>
                <a:gridCol w="1974130">
                  <a:extLst>
                    <a:ext uri="{9D8B030D-6E8A-4147-A177-3AD203B41FA5}">
                      <a16:colId xmlns="" xmlns:a16="http://schemas.microsoft.com/office/drawing/2014/main" val="4175006577"/>
                    </a:ext>
                  </a:extLst>
                </a:gridCol>
                <a:gridCol w="1873718">
                  <a:extLst>
                    <a:ext uri="{9D8B030D-6E8A-4147-A177-3AD203B41FA5}">
                      <a16:colId xmlns="" xmlns:a16="http://schemas.microsoft.com/office/drawing/2014/main" val="2693713408"/>
                    </a:ext>
                  </a:extLst>
                </a:gridCol>
                <a:gridCol w="1695283">
                  <a:extLst>
                    <a:ext uri="{9D8B030D-6E8A-4147-A177-3AD203B41FA5}">
                      <a16:colId xmlns="" xmlns:a16="http://schemas.microsoft.com/office/drawing/2014/main" val="3582081077"/>
                    </a:ext>
                  </a:extLst>
                </a:gridCol>
              </a:tblGrid>
              <a:tr h="416342">
                <a:tc>
                  <a:txBody>
                    <a:bodyPr/>
                    <a:lstStyle/>
                    <a:p>
                      <a:r>
                        <a:rPr lang="en-US" dirty="0"/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Journal/Conference /Book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Relevance to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41639570"/>
                  </a:ext>
                </a:extLst>
              </a:tr>
              <a:tr h="1900798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Huzzat</a:t>
                      </a: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 (2025)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Survey of Traditional and Emerging Deep Learning Techniques for NILM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Journal (MDPI)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Presents a detailed overview of NILM research and discusses the evolution of deep learning techniques such as CNNs, LSTMs, and Transformers for appliance-level energy estimation.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work mainly reviews existing approaches and does not implement a complete monitoring framework for practical deployment.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Provided background knowledge on modern NILM methodologies and guided the selection of deep learning techniques for the proposed system.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97197360"/>
                  </a:ext>
                </a:extLst>
              </a:tr>
              <a:tr h="2232977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Huber et al. (2021)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on Deep Neural Networks Applied to Low-Frequency NILM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Energies (MDPI)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Examines the application of deep neural network models for low-frequency NILM data and evaluates their effectiveness in energy disaggregation tasks.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 concentrates on model evaluation and lacks features related to visualization, analytics, and end-user interaction.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Helped establish the suitability of deep learning models for appliance-level energy prediction from aggregate power measurements.</a:t>
                      </a:r>
                      <a:endParaRPr lang="en-IN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7539514"/>
                  </a:ext>
                </a:extLst>
              </a:tr>
            </a:tbl>
          </a:graphicData>
        </a:graphic>
      </p:graphicFrame>
      <p:pic>
        <p:nvPicPr>
          <p:cNvPr id="7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4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F43A024-65A6-61A2-41D3-ED322C9D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F37F8C-71A1-004A-55A4-9A7DF5AD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240" y="297038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u="sng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D821480-C9A2-4543-79FC-8F9BCA32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03912" y="6270615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</a:rPr>
              <a:pPr algn="ctr">
                <a:defRPr/>
              </a:pPr>
              <a:t>9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900F9B03-63CB-2D89-DF7F-468771B62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32424"/>
              </p:ext>
            </p:extLst>
          </p:nvPr>
        </p:nvGraphicFramePr>
        <p:xfrm>
          <a:off x="314632" y="877662"/>
          <a:ext cx="11738030" cy="4636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871">
                  <a:extLst>
                    <a:ext uri="{9D8B030D-6E8A-4147-A177-3AD203B41FA5}">
                      <a16:colId xmlns="" xmlns:a16="http://schemas.microsoft.com/office/drawing/2014/main" val="1819742863"/>
                    </a:ext>
                  </a:extLst>
                </a:gridCol>
                <a:gridCol w="1672665">
                  <a:extLst>
                    <a:ext uri="{9D8B030D-6E8A-4147-A177-3AD203B41FA5}">
                      <a16:colId xmlns="" xmlns:a16="http://schemas.microsoft.com/office/drawing/2014/main" val="805257030"/>
                    </a:ext>
                  </a:extLst>
                </a:gridCol>
                <a:gridCol w="2071378">
                  <a:extLst>
                    <a:ext uri="{9D8B030D-6E8A-4147-A177-3AD203B41FA5}">
                      <a16:colId xmlns="" xmlns:a16="http://schemas.microsoft.com/office/drawing/2014/main" val="4205050898"/>
                    </a:ext>
                  </a:extLst>
                </a:gridCol>
                <a:gridCol w="1837985">
                  <a:extLst>
                    <a:ext uri="{9D8B030D-6E8A-4147-A177-3AD203B41FA5}">
                      <a16:colId xmlns="" xmlns:a16="http://schemas.microsoft.com/office/drawing/2014/main" val="2607814144"/>
                    </a:ext>
                  </a:extLst>
                </a:gridCol>
                <a:gridCol w="1974130">
                  <a:extLst>
                    <a:ext uri="{9D8B030D-6E8A-4147-A177-3AD203B41FA5}">
                      <a16:colId xmlns="" xmlns:a16="http://schemas.microsoft.com/office/drawing/2014/main" val="4175006577"/>
                    </a:ext>
                  </a:extLst>
                </a:gridCol>
                <a:gridCol w="1873718">
                  <a:extLst>
                    <a:ext uri="{9D8B030D-6E8A-4147-A177-3AD203B41FA5}">
                      <a16:colId xmlns="" xmlns:a16="http://schemas.microsoft.com/office/drawing/2014/main" val="2693713408"/>
                    </a:ext>
                  </a:extLst>
                </a:gridCol>
                <a:gridCol w="1695283">
                  <a:extLst>
                    <a:ext uri="{9D8B030D-6E8A-4147-A177-3AD203B41FA5}">
                      <a16:colId xmlns="" xmlns:a16="http://schemas.microsoft.com/office/drawing/2014/main" val="3582081077"/>
                    </a:ext>
                  </a:extLst>
                </a:gridCol>
              </a:tblGrid>
              <a:tr h="416342">
                <a:tc>
                  <a:txBody>
                    <a:bodyPr/>
                    <a:lstStyle/>
                    <a:p>
                      <a:r>
                        <a:rPr lang="en-US" dirty="0"/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Journal/Conference /Book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Relevance to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41639570"/>
                  </a:ext>
                </a:extLst>
              </a:tr>
              <a:tr h="190079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Kelly and </a:t>
                      </a:r>
                      <a:r>
                        <a:rPr lang="en-US" sz="135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Knottenbelt</a:t>
                      </a: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(2015)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Neural NILM: Deep Neural Networks Applied to Energy Disaggregation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ACM e-Energy Conference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Introduced deep learning-based NILM approaches and demonstrated the potential of neural networks for improving energy disaggregation performance.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research primarily emphasizes model development and provides limited support for user-oriented monitoring applications.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Served as one of the foundational studies influencing the adoption of deep learning methods in NILM systems.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97197360"/>
                  </a:ext>
                </a:extLst>
              </a:tr>
              <a:tr h="223297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Zhou et al. (2021)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Non-Intrusive Load Monitoring Using a CNN-LSTM-RF Model Considering Label Correlation and Class-Imbalance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Access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a hybrid framework combining CNN, LSTM, and Random Forest models to enhance appliance classification and energy estimation accuracy.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hybrid architecture increases computational complexity and offers limited integration with practical energy management tools.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Demonstrated the effectiveness of sequence-based learning methods for improving appliance recognition and disaggregation accuracy.</a:t>
                      </a:r>
                      <a:endParaRPr lang="en-IN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7539514"/>
                  </a:ext>
                </a:extLst>
              </a:tr>
            </a:tbl>
          </a:graphicData>
        </a:graphic>
      </p:graphicFrame>
      <p:pic>
        <p:nvPicPr>
          <p:cNvPr id="7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4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F43A024-65A6-61A2-41D3-ED322C9D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F37F8C-71A1-004A-55A4-9A7DF5AD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240" y="297038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u="sng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D821480-C9A2-4543-79FC-8F9BCA32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03912" y="6270615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</a:rPr>
              <a:pPr algn="ctr">
                <a:defRPr/>
              </a:pPr>
              <a:t>10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900F9B03-63CB-2D89-DF7F-468771B62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79027"/>
              </p:ext>
            </p:extLst>
          </p:nvPr>
        </p:nvGraphicFramePr>
        <p:xfrm>
          <a:off x="314632" y="877662"/>
          <a:ext cx="11738030" cy="4636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871">
                  <a:extLst>
                    <a:ext uri="{9D8B030D-6E8A-4147-A177-3AD203B41FA5}">
                      <a16:colId xmlns="" xmlns:a16="http://schemas.microsoft.com/office/drawing/2014/main" val="1819742863"/>
                    </a:ext>
                  </a:extLst>
                </a:gridCol>
                <a:gridCol w="1672665">
                  <a:extLst>
                    <a:ext uri="{9D8B030D-6E8A-4147-A177-3AD203B41FA5}">
                      <a16:colId xmlns="" xmlns:a16="http://schemas.microsoft.com/office/drawing/2014/main" val="805257030"/>
                    </a:ext>
                  </a:extLst>
                </a:gridCol>
                <a:gridCol w="2071378">
                  <a:extLst>
                    <a:ext uri="{9D8B030D-6E8A-4147-A177-3AD203B41FA5}">
                      <a16:colId xmlns="" xmlns:a16="http://schemas.microsoft.com/office/drawing/2014/main" val="4205050898"/>
                    </a:ext>
                  </a:extLst>
                </a:gridCol>
                <a:gridCol w="1837985">
                  <a:extLst>
                    <a:ext uri="{9D8B030D-6E8A-4147-A177-3AD203B41FA5}">
                      <a16:colId xmlns="" xmlns:a16="http://schemas.microsoft.com/office/drawing/2014/main" val="2607814144"/>
                    </a:ext>
                  </a:extLst>
                </a:gridCol>
                <a:gridCol w="1974130">
                  <a:extLst>
                    <a:ext uri="{9D8B030D-6E8A-4147-A177-3AD203B41FA5}">
                      <a16:colId xmlns="" xmlns:a16="http://schemas.microsoft.com/office/drawing/2014/main" val="4175006577"/>
                    </a:ext>
                  </a:extLst>
                </a:gridCol>
                <a:gridCol w="1873718">
                  <a:extLst>
                    <a:ext uri="{9D8B030D-6E8A-4147-A177-3AD203B41FA5}">
                      <a16:colId xmlns="" xmlns:a16="http://schemas.microsoft.com/office/drawing/2014/main" val="2693713408"/>
                    </a:ext>
                  </a:extLst>
                </a:gridCol>
                <a:gridCol w="1695283">
                  <a:extLst>
                    <a:ext uri="{9D8B030D-6E8A-4147-A177-3AD203B41FA5}">
                      <a16:colId xmlns="" xmlns:a16="http://schemas.microsoft.com/office/drawing/2014/main" val="3582081077"/>
                    </a:ext>
                  </a:extLst>
                </a:gridCol>
              </a:tblGrid>
              <a:tr h="416342">
                <a:tc>
                  <a:txBody>
                    <a:bodyPr/>
                    <a:lstStyle/>
                    <a:p>
                      <a:r>
                        <a:rPr lang="en-US" dirty="0"/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Journal/Conference /Book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Relevance to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41639570"/>
                  </a:ext>
                </a:extLst>
              </a:tr>
              <a:tr h="1900798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Zai</a:t>
                      </a: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 (2023)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Non-Intrusive Load Monitoring Based on the Combination of Gate-Transformer and CNN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Electronics (MDPI)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Utilized Transformer and CNN architectures to capture complex consumption patterns and improve NILM prediction performance.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approach requires significant computational resources and focuses mainly on prediction accuracy rather than complete energy monitoring solutions.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Provided insights into recent advancements in NILM architectures and highlighted the importance of intelligent energy monitoring systems.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97197360"/>
                  </a:ext>
                </a:extLst>
              </a:tr>
              <a:tr h="2232977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Zhang et al. (2018)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Sequence-to-Point Learning with Neural Networks for NILM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AAAI Workshop / NILM Research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Introduced a sequence-to-point learning framework capable of estimating appliance-level consumption directly from aggregate electricity signals.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 mainly targets energy disaggregation and does not address analytics, anomaly detection, or visualization requirements.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Supported the adoption of temporal learning techniques for appliance-level energy estimation in the proposed system.</a:t>
                      </a:r>
                      <a:endParaRPr lang="en-IN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7539514"/>
                  </a:ext>
                </a:extLst>
              </a:tr>
            </a:tbl>
          </a:graphicData>
        </a:graphic>
      </p:graphicFrame>
      <p:pic>
        <p:nvPicPr>
          <p:cNvPr id="7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92771" y="5802403"/>
            <a:ext cx="26747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1. Literature Survey Table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48461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9" y="404665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205" y="1179421"/>
            <a:ext cx="9744622" cy="493634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NILM studies primarily focus on improving appliance-level energy disaggregation accuracy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anomaly detection, electricity cost estimation, and appliance-wise energy analytics are often not integrated within a single framework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research works present prediction results through offline evaluation metrics, making interpretation difficult for end users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emphasis has been placed on developing user-oriented platforms that combine prediction, analysis, visualization, and decision-support capabilities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intelligent and integrated energy monitoring framework that combines appliance-level energy estimation, anomaly detection, bill estimation, and interactive visualization.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11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42" y="6115765"/>
            <a:ext cx="2197433" cy="614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5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9" y="404665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56" y="1287064"/>
            <a:ext cx="9744622" cy="4936343"/>
          </a:xfrm>
        </p:spPr>
        <p:txBody>
          <a:bodyPr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NILM model for estimating appliance-level energy consumption from aggregate household electricity 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Bidirectional Long Short-Term Memory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model is utilized to learn temporal consumption patterns and predict the energy usage of selected household appliances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UK-DALE dataset is used for model training and evaluation, providing both aggregate and appliance-level electricity consumption 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incorporates anomaly detection and electricity bill estimation to provide additional energy insights beyond energy disaggregation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dashboard is developed to visualize appliance-level consumption, energy trends, anomaly alerts, and estimated electricity costs.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12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2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9" y="404665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b="1" u="sng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0021" y="1287065"/>
            <a:ext cx="6427870" cy="5459175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UK-DALE dataset: provides aggregate and appliance-level household electricity consumption data.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preprocessing &amp; feature engineering: performs data cleaning, normalization, and extraction of temporal and statistical features.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-based NILM model: learns consumption patterns from aggregate power data and estimates appliance-level energy usage.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Analytics modules: perform appliance consumption analysis, anomaly detection, and electricity bill estimation.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dashboard: presents energy consumption trends, anomaly alerts, appliance analytics, and estimated electricity costs through an interactive interface.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13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48" y="1178560"/>
            <a:ext cx="3747898" cy="41946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3919" y="5412608"/>
            <a:ext cx="3962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System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Proposed AI-Based Smart Energy Monitoring System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0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6058" y="404664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14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043381" y="5637540"/>
            <a:ext cx="448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IN" sz="1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Operational Block Diagram of the Proposed AI-Based Smart Energy Monitoring System</a:t>
            </a:r>
            <a:endParaRPr lang="en-IN" sz="1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555" y="1067825"/>
            <a:ext cx="2867046" cy="44372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7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089" y="30121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1473" y="946795"/>
            <a:ext cx="6427870" cy="54591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pPr marL="457200"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UK-DALE household electricity consumption dataset.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handling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resampling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features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features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statistics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Cyclical time features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15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83919" y="5412608"/>
            <a:ext cx="4137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IN" sz="1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Solution Strategy of the Proposed AI-Based Smart Energy Monitoring System</a:t>
            </a:r>
            <a:endParaRPr lang="en-IN" sz="1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65" y="604388"/>
            <a:ext cx="2467935" cy="48082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23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089" y="30121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16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83919" y="5412608"/>
            <a:ext cx="4104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3.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Solution Strategy of the Proposed AI-Based Smart Energy Monitoring System</a:t>
            </a:r>
            <a:endParaRPr lang="en-IN" sz="1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65" y="604388"/>
            <a:ext cx="2470904" cy="4808220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4857474" y="820624"/>
            <a:ext cx="6427870" cy="5459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Steps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Sequence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24-hour sliding window sequences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Based NILM Model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Appliance-level energy disaggregation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Prediction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Analytics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 predictions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estimation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Dashboard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interactive dashboard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2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282" y="384345"/>
            <a:ext cx="8377770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NILM MODEL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56" y="1287064"/>
            <a:ext cx="9744622" cy="493634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 Layer: 24-hour sequential windows generated from the processed dataset.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1: 128 hidden units for learning temporal consumption patterns.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Batch Normalization &amp; Dropout (0.2): Improve training stability and reduce overfitting.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2: 64 hidden units for extracting higher-level temporal features.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Dense Layer: 64 neurons with L2 regularization for feature refinement.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17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8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282" y="384345"/>
            <a:ext cx="8377770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NILM MODEL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56" y="1232943"/>
            <a:ext cx="9744622" cy="4936343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Multi-Output Prediction: Simultaneous prediction of: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Refrigerator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 Machine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Dishwasher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Television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Kettle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 (Learning Rate = 0.001)</a:t>
            </a:r>
          </a:p>
          <a:p>
            <a:pPr marL="457200" lvl="1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Loss Function: Huber Loss</a:t>
            </a:r>
          </a:p>
          <a:p>
            <a:pPr marL="457200" lvl="1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Batch Size: 64</a:t>
            </a:r>
          </a:p>
          <a:p>
            <a:pPr marL="457200" lvl="1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Maximum Epochs: 200</a:t>
            </a:r>
          </a:p>
          <a:p>
            <a:pPr marL="457200" lvl="1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Validation Split: 15%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18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028" y="1605098"/>
            <a:ext cx="3800556" cy="42898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9147" y="5789397"/>
            <a:ext cx="3823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 </a:t>
            </a:r>
            <a:r>
              <a:rPr lang="en-IN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-Based NILM Model Architecture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636" y="404665"/>
            <a:ext cx="11373363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 EVALUATION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0675108"/>
              </p:ext>
            </p:extLst>
          </p:nvPr>
        </p:nvGraphicFramePr>
        <p:xfrm>
          <a:off x="633473" y="1452318"/>
          <a:ext cx="5688331" cy="38192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93144"/>
                <a:gridCol w="1699077"/>
                <a:gridCol w="1896110"/>
              </a:tblGrid>
              <a:tr h="636535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Appliance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(kWh)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 marL="42228" marR="42228" marT="21114" marB="21114" anchor="ctr"/>
                </a:tc>
              </a:tr>
              <a:tr h="636535"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Refrigerator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0.4813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0.138</a:t>
                      </a:r>
                    </a:p>
                  </a:txBody>
                  <a:tcPr marL="42228" marR="42228" marT="21114" marB="21114" anchor="ctr"/>
                </a:tc>
              </a:tr>
              <a:tr h="636535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Washing Machine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0.4849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0.147</a:t>
                      </a:r>
                    </a:p>
                  </a:txBody>
                  <a:tcPr marL="42228" marR="42228" marT="21114" marB="21114" anchor="ctr"/>
                </a:tc>
              </a:tr>
              <a:tr h="636535"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Dishwasher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0.1073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0.482</a:t>
                      </a:r>
                    </a:p>
                  </a:txBody>
                  <a:tcPr marL="42228" marR="42228" marT="21114" marB="21114" anchor="ctr"/>
                </a:tc>
              </a:tr>
              <a:tr h="636535"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0.1598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0.824</a:t>
                      </a:r>
                    </a:p>
                  </a:txBody>
                  <a:tcPr marL="42228" marR="42228" marT="21114" marB="21114" anchor="ctr"/>
                </a:tc>
              </a:tr>
              <a:tr h="636535"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Kettle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0.1463</a:t>
                      </a:r>
                    </a:p>
                  </a:txBody>
                  <a:tcPr marL="42228" marR="42228" marT="21114" marB="2111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0.996</a:t>
                      </a:r>
                    </a:p>
                  </a:txBody>
                  <a:tcPr marL="42228" marR="42228" marT="21114" marB="21114" anchor="ctr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19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644640" y="1299541"/>
            <a:ext cx="48564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Kettle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performance with an F1 Score of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0.996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Television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strong prediction capability with an F1 Score of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0.824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Dishwasher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lowest MAE (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0.1073 kWh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among all appliances.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Refrigerator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Washing Machine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exhibited lower F1 Scores due to complex and overlapping consumption patterns.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demonstrate the effectiveness of the proposed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-based NILM model for appliance-level energy disaggregation.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050830" y="5441156"/>
            <a:ext cx="4563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2. Appliance-Wise Performance Evaluation Results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7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9" y="404665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RESULTS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20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73" y="1230193"/>
            <a:ext cx="6232267" cy="43357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325" y="1428376"/>
            <a:ext cx="3505850" cy="31573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9681" y="5586965"/>
            <a:ext cx="54667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5.User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of the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Energy Monitoring Dashboard</a:t>
            </a:r>
          </a:p>
          <a:p>
            <a:pPr algn="ctr"/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90727" y="4852975"/>
            <a:ext cx="27428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6. Predicted Energy Share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4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561" y="404665"/>
            <a:ext cx="8794330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 ANALYSIS RESULTS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21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522094" y="1454314"/>
            <a:ext cx="5756786" cy="224532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6644744" y="1449890"/>
            <a:ext cx="4823460" cy="23285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854935" y="3654427"/>
            <a:ext cx="31633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7. Per- Appliance Daily Average</a:t>
            </a:r>
            <a:endParaRPr lang="en-IN" sz="1400" dirty="0"/>
          </a:p>
        </p:txBody>
      </p:sp>
      <p:sp>
        <p:nvSpPr>
          <p:cNvPr id="13" name="Rectangle 12"/>
          <p:cNvSpPr/>
          <p:nvPr/>
        </p:nvSpPr>
        <p:spPr>
          <a:xfrm>
            <a:off x="7525284" y="4062661"/>
            <a:ext cx="3252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8(a). Fridge – actual vs predicted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0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180" y="394505"/>
            <a:ext cx="8621610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 ANALYSIS RESULTS</a:t>
            </a:r>
            <a:r>
              <a:rPr lang="en-IN" b="1" dirty="0"/>
              <a:t/>
            </a:r>
            <a:br>
              <a:rPr lang="en-IN" b="1" dirty="0"/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22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743319" y="1231466"/>
            <a:ext cx="4968240" cy="2402205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694975" y="1416251"/>
            <a:ext cx="4941570" cy="22174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31576" y="4002623"/>
            <a:ext cx="4191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8(b): Washing Machine  – actual vs predicted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28837" y="4002622"/>
            <a:ext cx="37351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8(c) : Dishwasher  – actual vs predicted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1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23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782320" y="1775545"/>
            <a:ext cx="4939030" cy="219456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849280" y="1775545"/>
            <a:ext cx="4876800" cy="230060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714330" y="449224"/>
            <a:ext cx="8621610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 ANALYSIS RESULTS</a:t>
            </a:r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000" dirty="0" smtClean="0">
                <a:latin typeface="Times New Roman" pitchFamily="18" charset="0"/>
                <a:cs typeface="Times New Roman" pitchFamily="18" charset="0"/>
              </a:rPr>
            </a:b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00897" y="4316661"/>
            <a:ext cx="31018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8(d) : TV  – actual vs predicted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24086" y="4328880"/>
            <a:ext cx="33071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8(e) : Kettle  – actual vs predicted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8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180" y="384345"/>
            <a:ext cx="8666909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RESULTS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266" y="1185464"/>
            <a:ext cx="5388078" cy="4936343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appliance energy consumption patterns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rolling 7-day Z-score analysis is used to detect significant deviations from normal energy usage behavior.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evaluation period, a total of 46 anomalous events were identified.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 were classified as: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Spikes (abnormally high energy usage) 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Drops (abnormally low energy usage) 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anomalies were primarily associated with appliances such as the Refrigerator and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Washing Machine,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exhibit varying operational patterns.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early warnings for abnormal appliance operation and energy inefficiencies.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24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 rotWithShape="1">
          <a:blip r:embed="rId3"/>
          <a:srcRect r="8146"/>
          <a:stretch/>
        </p:blipFill>
        <p:spPr>
          <a:xfrm>
            <a:off x="402076" y="1327148"/>
            <a:ext cx="5384800" cy="36004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780455" y="5159923"/>
            <a:ext cx="31899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9. Anomaly and Drift Detection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4090" y="5811587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076" y="339279"/>
            <a:ext cx="11155680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BILL ESTIMATION RESULTS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b="1" dirty="0">
                <a:latin typeface="Times New Roman" pitchFamily="18" charset="0"/>
                <a:cs typeface="Times New Roman" pitchFamily="18" charset="0"/>
              </a:rPr>
            </a:br>
            <a:endParaRPr lang="en-IN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636" y="3859752"/>
            <a:ext cx="10062724" cy="2886044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monthly energy consumption: 908.72 kWh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tariff (28 pence/kWh): £254.44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Indian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tariff (₹7/kWh): ₹6361.07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Appliance-wise monthly cost breakdown is provided through the dashboard.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Refrigerator and Kettle contribute the highest monthly electricity cost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energy awareness and cost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25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60" y="6155624"/>
            <a:ext cx="1998200" cy="5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432716" y="1183339"/>
            <a:ext cx="5746004" cy="251702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6687306" y="1104184"/>
            <a:ext cx="5281174" cy="27555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00420" y="3625107"/>
            <a:ext cx="38105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10. Electricity Bill Estimation in GB UK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22214" y="4019140"/>
            <a:ext cx="4328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11. Electricity Bill Estimation in Indian Rupee</a:t>
            </a:r>
            <a:endParaRPr lang="en-IN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2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7409" y="231727"/>
            <a:ext cx="7765321" cy="13263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sz="44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b="1" dirty="0"/>
              <a:t/>
            </a:r>
            <a:br>
              <a:rPr lang="en-IN" b="1" dirty="0"/>
            </a:br>
            <a:r>
              <a:rPr lang="en-IN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696" y="1066179"/>
            <a:ext cx="9744622" cy="493634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NILM model was developed to estimate appliance-level energy consumption from aggregate household electricity measurements.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successfully learned appliance consumption patterns and achieved strong performance for appliances with distinct energy signatures, particularly the Kettle and Television.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integrated anomaly detection, electricity bill estimation, and appliance-level energy analytics to enhance practical usability.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was developed to visualize energy consumption trends, appliance predictions, anomaly alerts, and electricity costs.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AI-Based Smart Energy Monitoring System successfully achieved its objectives and demonstrated the effectiveness of deep learning-based NILM for residential energy monitoring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26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7409" y="231727"/>
            <a:ext cx="7765321" cy="1326321"/>
          </a:xfrm>
        </p:spPr>
        <p:txBody>
          <a:bodyPr>
            <a:normAutofit/>
          </a:bodyPr>
          <a:lstStyle/>
          <a:p>
            <a:pPr algn="ctr"/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216" y="1268587"/>
            <a:ext cx="9744622" cy="4936343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real-time smart meters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 for live household energy monitoring.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NILM model on edge-computing platforms such as Raspberry Pi for real-time inference.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advanced architectures such as Transformer-based and attention-based models to improve prediction accuracy.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system to support a larger number of household appliances and diverse residential environments.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personalized energy-saving recommendations and predictive maintenance features for smart home applications.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50020" y="6223408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algn="ctr">
                <a:defRPr/>
              </a:pPr>
              <a:t>27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8" descr="SM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36" y="591546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1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1336" y="98323"/>
            <a:ext cx="4293098" cy="727587"/>
          </a:xfrm>
        </p:spPr>
        <p:txBody>
          <a:bodyPr>
            <a:noAutofit/>
          </a:bodyPr>
          <a:lstStyle/>
          <a:p>
            <a:r>
              <a:rPr lang="en-IN" sz="4000" b="1" u="sng" dirty="0">
                <a:latin typeface="Times New Roman" pitchFamily="18" charset="0"/>
                <a:cs typeface="Times New Roman" pitchFamily="18" charset="0"/>
              </a:rPr>
              <a:t>GANTT</a:t>
            </a:r>
            <a:r>
              <a:rPr lang="en-IN" sz="3600" b="1" u="sng" dirty="0">
                <a:latin typeface="Times New Roman" pitchFamily="18" charset="0"/>
                <a:cs typeface="Times New Roman" pitchFamily="18" charset="0"/>
              </a:rPr>
              <a:t> CHART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067300" y="6308996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 algn="ctr">
                <a:defRPr/>
              </a:pPr>
              <a:t>28</a:t>
            </a:fld>
            <a:endParaRPr lang="en-IN" dirty="0">
              <a:solidFill>
                <a:prstClr val="black">
                  <a:tint val="82000"/>
                </a:prstClr>
              </a:solidFill>
            </a:endParaRPr>
          </a:p>
        </p:txBody>
      </p:sp>
      <p:pic>
        <p:nvPicPr>
          <p:cNvPr id="5" name="Picture 8" descr="SMIT">
            <a:extLst>
              <a:ext uri="{FF2B5EF4-FFF2-40B4-BE49-F238E27FC236}">
                <a16:creationId xmlns="" xmlns:a16="http://schemas.microsoft.com/office/drawing/2014/main" id="{AEE99A00-73AF-4B88-836D-F9110E3B7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49" y="566775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E4E43EB4-3BAD-82FD-EE57-9CD26D70E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67105"/>
              </p:ext>
            </p:extLst>
          </p:nvPr>
        </p:nvGraphicFramePr>
        <p:xfrm>
          <a:off x="986031" y="825910"/>
          <a:ext cx="9703294" cy="3779389"/>
        </p:xfrm>
        <a:graphic>
          <a:graphicData uri="http://schemas.openxmlformats.org/drawingml/2006/table">
            <a:tbl>
              <a:tblPr/>
              <a:tblGrid>
                <a:gridCol w="31355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309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3423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693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487">
                  <a:extLst>
                    <a:ext uri="{9D8B030D-6E8A-4147-A177-3AD203B41FA5}">
                      <a16:colId xmlns="" xmlns:a16="http://schemas.microsoft.com/office/drawing/2014/main" val="2831268307"/>
                    </a:ext>
                  </a:extLst>
                </a:gridCol>
                <a:gridCol w="21880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13079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4240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30383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4450">
                  <a:extLst>
                    <a:ext uri="{9D8B030D-6E8A-4147-A177-3AD203B41FA5}">
                      <a16:colId xmlns="" xmlns:a16="http://schemas.microsoft.com/office/drawing/2014/main" val="2694510748"/>
                    </a:ext>
                  </a:extLst>
                </a:gridCol>
                <a:gridCol w="1162242"/>
              </a:tblGrid>
              <a:tr h="2148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ACTIVITY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TIME </a:t>
                      </a:r>
                      <a:r>
                        <a:rPr lang="en-IN" sz="12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FRAME (in Months)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883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MONTHS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JANUARY 2026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FEBRUARY 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MARCH 2026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APRIL 2026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May 2026 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521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LITERATURE SURVEY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6975990"/>
                  </a:ext>
                </a:extLst>
              </a:tr>
              <a:tr h="255639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08813278"/>
                  </a:ext>
                </a:extLst>
              </a:tr>
              <a:tr h="21483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PROBLEM </a:t>
                      </a:r>
                      <a:r>
                        <a:rPr kumimoji="0" lang="en-IN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DEFINITION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148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dirty="0"/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1483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IMPLEMENTATION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148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3699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TESTING AND VALIDATION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148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1483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REPORT WRITING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148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148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19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ACTIVITY</a:t>
                      </a:r>
                      <a:b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PROPOSED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BB5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ACTIVITY</a:t>
                      </a:r>
                      <a:b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ACHIEVED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37B0D6C-5883-657B-CF6A-9EE7E27BCA3B}"/>
              </a:ext>
            </a:extLst>
          </p:cNvPr>
          <p:cNvSpPr txBox="1"/>
          <p:nvPr/>
        </p:nvSpPr>
        <p:spPr>
          <a:xfrm>
            <a:off x="1205853" y="4824287"/>
            <a:ext cx="9920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12. </a:t>
            </a:r>
            <a:r>
              <a:rPr lang="en-I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AND MILESTONES FOR AI-BASED SMART ENERGY MONITORING SYSTEM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0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08AB865-C76A-40F0-B89F-93AB36D0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44C816-98CD-A148-A25E-C79358644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800" y="183879"/>
            <a:ext cx="3600400" cy="727587"/>
          </a:xfrm>
        </p:spPr>
        <p:txBody>
          <a:bodyPr>
            <a:no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3E6E0EF-1E5B-9F89-AAEC-79FBC394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67300" y="6308996"/>
            <a:ext cx="2057400" cy="365125"/>
          </a:xfrm>
        </p:spPr>
        <p:txBody>
          <a:bodyPr/>
          <a:lstStyle/>
          <a:p>
            <a:pPr algn="ctr">
              <a:defRPr/>
            </a:pPr>
            <a:fld id="{4EB72B27-404B-469D-BE2C-F5E46E2922E6}" type="slidenum">
              <a:rPr lang="en-IN" smtClean="0">
                <a:solidFill>
                  <a:prstClr val="black">
                    <a:tint val="82000"/>
                  </a:prstClr>
                </a:solidFill>
              </a:rPr>
              <a:pPr algn="ctr">
                <a:defRPr/>
              </a:pPr>
              <a:t>29</a:t>
            </a:fld>
            <a:endParaRPr lang="en-IN" dirty="0">
              <a:solidFill>
                <a:prstClr val="black">
                  <a:tint val="82000"/>
                </a:prstClr>
              </a:solidFill>
            </a:endParaRPr>
          </a:p>
        </p:txBody>
      </p:sp>
      <p:pic>
        <p:nvPicPr>
          <p:cNvPr id="5" name="Picture 8" descr="SMIT">
            <a:extLst>
              <a:ext uri="{FF2B5EF4-FFF2-40B4-BE49-F238E27FC236}">
                <a16:creationId xmlns="" xmlns:a16="http://schemas.microsoft.com/office/drawing/2014/main" id="{12C114CA-62F0-83F9-B7CE-B8EA00D44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63" y="5945458"/>
            <a:ext cx="2605088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8CA46E0-9A01-29AA-F3C1-9E0E43227279}"/>
              </a:ext>
            </a:extLst>
          </p:cNvPr>
          <p:cNvSpPr txBox="1"/>
          <p:nvPr/>
        </p:nvSpPr>
        <p:spPr>
          <a:xfrm>
            <a:off x="161924" y="911466"/>
            <a:ext cx="117194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Annysha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Huzzat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Ahmed 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Khwaja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Alnoman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Adhikari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Bhagawat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Anpalagan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Woungang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Isaac. "A Survey of Traditional and Emerging Deep Learning Techniques for Non-Intrusive Load Monitoring."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6, no. 9 (2025): 213.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Huber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Patrick, Alberto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Calatroni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Andreas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Rumsch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Andrew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"Review on deep neural networks applied to low-frequency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14, no. 9 (2021): 2390.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Kelly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Jack, and William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Knottenbelt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"Neural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neural networks applied to energy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disaggregatio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 In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2nd ACM international conference on embedded systems for energy-efficient built environments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55-64. 2015.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Zhou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Xiao,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Shujian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Chengxi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Haojun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Zhu, Nan Dong,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Tianying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Xiao. "Non-intrusive load monitoring using a CNN-LSTM-RF model considering label correlation and class-imbalance."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9 (2021): 84306-84315.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Zhoupeng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Sheng Zhao,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Zhengjiang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Haolei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Nianqi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Sun. "Non-intrusive load monitoring based on the combination of gate-transformer and CNN."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12, no. 13 (2023): 2824.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 Zhang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Chaoyun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Mingjun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Zongzuo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Nigel Goddard, and Charles Sutton. "Sequence-to-point learning with neural networks for non-intrusive load monitoring." In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AAAI conference on artificial intelligence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32, no. 1. 2018.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2EFCB4E-209A-92AD-29F9-CF444A0F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68" y="5802403"/>
            <a:ext cx="927910" cy="9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8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98CB6A-1912-FB66-2E20-5CFCACC65B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39325CE-6CDC-B88A-CF56-C1AD4B6D42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19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2137</Words>
  <Application>Microsoft Office PowerPoint</Application>
  <PresentationFormat>Widescreen</PresentationFormat>
  <Paragraphs>373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Calibri Light</vt:lpstr>
      <vt:lpstr>Times New Roman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    Presented by ANKIT KUMAR (202200158)                    Under the Supervision of DR. JITENDRA SINGH TAMANG ASSISTANT PROFESSOR (SG)    DEPARTMENT OF ELECTRONICS AND COMMUNICATION ENGINEERING SIKKIM MANIPAL INSTITUTE OF TECHNOLOGY   </vt:lpstr>
      <vt:lpstr>  ORGANIZATION OF PRESENTATION </vt:lpstr>
      <vt:lpstr>  ORGANIZATION OF PRESENTATION </vt:lpstr>
      <vt:lpstr>    INTRODUCTION  </vt:lpstr>
      <vt:lpstr>    MOTIVATION  </vt:lpstr>
      <vt:lpstr>    PROBLEM STATEMENT  </vt:lpstr>
      <vt:lpstr>    OBJECTIVES  </vt:lpstr>
      <vt:lpstr>    LITERATURE SURVEY  </vt:lpstr>
      <vt:lpstr>    LITERATURE SURVEY  </vt:lpstr>
      <vt:lpstr>    LITERATURE SURVEY  </vt:lpstr>
      <vt:lpstr>    RESEARCH GAP  </vt:lpstr>
      <vt:lpstr>    PROPOSED SOLUTION  </vt:lpstr>
      <vt:lpstr>    SYSTEM ARCHITECTURE  </vt:lpstr>
      <vt:lpstr>  BLOCK DIAGRAM  </vt:lpstr>
      <vt:lpstr>  METHODOLOGY  </vt:lpstr>
      <vt:lpstr>  METHODOLOGY  </vt:lpstr>
      <vt:lpstr>    BiLSTM-BASED NILM MODEL  </vt:lpstr>
      <vt:lpstr>    BiLSTM-BASED NILM MODEL  </vt:lpstr>
      <vt:lpstr>    RESULTS &amp; PERFORMANCE EVALUATION  </vt:lpstr>
      <vt:lpstr>    DASHBOARD RESULTS  </vt:lpstr>
      <vt:lpstr>    APPLIANCE ANALYSIS RESULTS  </vt:lpstr>
      <vt:lpstr>    APPLIANCE ANALYSIS RESULTS  </vt:lpstr>
      <vt:lpstr>PowerPoint Presentation</vt:lpstr>
      <vt:lpstr>    ANOMALY DETECTION RESULTS  </vt:lpstr>
      <vt:lpstr>    ELECTRICITY BILL ESTIMATION RESULTS  </vt:lpstr>
      <vt:lpstr>    CONCLUSION  </vt:lpstr>
      <vt:lpstr>FUTURE SCOPE</vt:lpstr>
      <vt:lpstr>GANTT CHART</vt:lpstr>
      <vt:lpstr>REFERENCES</vt:lpstr>
      <vt:lpstr>THANK YOU 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ANKIT KUMAR (202200158)                    Under the Supervision of DR. JITENDRA SINGH TAMANG ASSISTANT PROFESSOR (SG)    DEPARTMENT OF ELECTRONICS AND COMMUNICATION ENGINEERING SIKKIM MANIPAL INSTITUTE OF TECHNOLOGY</dc:title>
  <dc:creator>ANKIT</dc:creator>
  <cp:lastModifiedBy>ANKIT</cp:lastModifiedBy>
  <cp:revision>36</cp:revision>
  <dcterms:created xsi:type="dcterms:W3CDTF">2026-06-07T19:01:01Z</dcterms:created>
  <dcterms:modified xsi:type="dcterms:W3CDTF">2026-06-08T19:34:15Z</dcterms:modified>
</cp:coreProperties>
</file>